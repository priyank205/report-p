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Raleway"/>
      <p:regular r:id="rId25"/>
      <p:bold r:id="rId26"/>
      <p:italic r:id="rId27"/>
      <p:boldItalic r:id="rId28"/>
    </p:embeddedFont>
    <p:embeddedFont>
      <p:font typeface="Proxima Nova"/>
      <p:regular r:id="rId29"/>
      <p:bold r:id="rId30"/>
      <p:italic r:id="rId31"/>
      <p:boldItalic r:id="rId32"/>
    </p:embeddedFont>
    <p:embeddedFont>
      <p:font typeface="Nunito"/>
      <p:regular r:id="rId33"/>
      <p:bold r:id="rId34"/>
      <p:italic r:id="rId35"/>
      <p:boldItalic r:id="rId36"/>
    </p:embeddedFont>
    <p:embeddedFont>
      <p:font typeface="Lato"/>
      <p:regular r:id="rId37"/>
      <p:bold r:id="rId38"/>
      <p:italic r:id="rId39"/>
      <p:boldItalic r:id="rId40"/>
    </p:embeddedFont>
    <p:embeddedFont>
      <p:font typeface="Nunito ExtraBold"/>
      <p:bold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boldItalic.fntdata"/><Relationship Id="rId20" Type="http://schemas.openxmlformats.org/officeDocument/2006/relationships/slide" Target="slides/slide15.xml"/><Relationship Id="rId42" Type="http://schemas.openxmlformats.org/officeDocument/2006/relationships/font" Target="fonts/NunitoExtraBold-boldItalic.fntdata"/><Relationship Id="rId41" Type="http://schemas.openxmlformats.org/officeDocument/2006/relationships/font" Target="fonts/NunitoExtraBold-bold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-bold.fntdata"/><Relationship Id="rId25" Type="http://schemas.openxmlformats.org/officeDocument/2006/relationships/font" Target="fonts/Raleway-regular.fntdata"/><Relationship Id="rId28" Type="http://schemas.openxmlformats.org/officeDocument/2006/relationships/font" Target="fonts/Raleway-boldItalic.fntdata"/><Relationship Id="rId27" Type="http://schemas.openxmlformats.org/officeDocument/2006/relationships/font" Target="fonts/Raleway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roximaNova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roximaNova-italic.fntdata"/><Relationship Id="rId30" Type="http://schemas.openxmlformats.org/officeDocument/2006/relationships/font" Target="fonts/ProximaNova-bold.fntdata"/><Relationship Id="rId11" Type="http://schemas.openxmlformats.org/officeDocument/2006/relationships/slide" Target="slides/slide6.xml"/><Relationship Id="rId33" Type="http://schemas.openxmlformats.org/officeDocument/2006/relationships/font" Target="fonts/Nunito-regular.fntdata"/><Relationship Id="rId10" Type="http://schemas.openxmlformats.org/officeDocument/2006/relationships/slide" Target="slides/slide5.xml"/><Relationship Id="rId32" Type="http://schemas.openxmlformats.org/officeDocument/2006/relationships/font" Target="fonts/ProximaNova-boldItalic.fntdata"/><Relationship Id="rId13" Type="http://schemas.openxmlformats.org/officeDocument/2006/relationships/slide" Target="slides/slide8.xml"/><Relationship Id="rId35" Type="http://schemas.openxmlformats.org/officeDocument/2006/relationships/font" Target="fonts/Nunito-italic.fntdata"/><Relationship Id="rId12" Type="http://schemas.openxmlformats.org/officeDocument/2006/relationships/slide" Target="slides/slide7.xml"/><Relationship Id="rId34" Type="http://schemas.openxmlformats.org/officeDocument/2006/relationships/font" Target="fonts/Nunito-bold.fntdata"/><Relationship Id="rId15" Type="http://schemas.openxmlformats.org/officeDocument/2006/relationships/slide" Target="slides/slide10.xml"/><Relationship Id="rId37" Type="http://schemas.openxmlformats.org/officeDocument/2006/relationships/font" Target="fonts/Lato-regular.fntdata"/><Relationship Id="rId14" Type="http://schemas.openxmlformats.org/officeDocument/2006/relationships/slide" Target="slides/slide9.xml"/><Relationship Id="rId36" Type="http://schemas.openxmlformats.org/officeDocument/2006/relationships/font" Target="fonts/Nunito-boldItalic.fntdata"/><Relationship Id="rId17" Type="http://schemas.openxmlformats.org/officeDocument/2006/relationships/slide" Target="slides/slide12.xml"/><Relationship Id="rId39" Type="http://schemas.openxmlformats.org/officeDocument/2006/relationships/font" Target="fonts/Lato-italic.fntdata"/><Relationship Id="rId16" Type="http://schemas.openxmlformats.org/officeDocument/2006/relationships/slide" Target="slides/slide11.xml"/><Relationship Id="rId38" Type="http://schemas.openxmlformats.org/officeDocument/2006/relationships/font" Target="fonts/Lato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38db7e86e9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38db7e86e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2e67fc5eaa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2e67fc5eaa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2e67fc5eaa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2e67fc5eaa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2e67fc5eaa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2e67fc5eaa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2e67fc5eaa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2e67fc5eaa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2e67fc5eaa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2e67fc5eaa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2e67fc5eaa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2e67fc5eaa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2e76f15d3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2e76f15d3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2e76f15d39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2e76f15d39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2e76f15d39_1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2e76f15d39_1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2e76f15d39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2e76f15d39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2e76f15d39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2e76f15d39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2e76f15d39_1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2e76f15d39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2e76f15d39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2e76f15d39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2e76f15d39_1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2e76f15d39_1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2e76f15d39_1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2e76f15d39_1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2e76f15d39_1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2e76f15d39_1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2e76f15d39_1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22e76f15d39_1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2e76f15d39_1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2e76f15d39_1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idx="1" type="body"/>
          </p:nvPr>
        </p:nvSpPr>
        <p:spPr>
          <a:xfrm>
            <a:off x="589375" y="3541500"/>
            <a:ext cx="7153800" cy="12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/>
              <a:t>Submitted To</a:t>
            </a:r>
            <a:endParaRPr b="1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/>
              <a:t>   —prof.Mahendra kumar Sing</a:t>
            </a:r>
            <a:endParaRPr b="1" sz="2400"/>
          </a:p>
        </p:txBody>
      </p:sp>
      <p:pic>
        <p:nvPicPr>
          <p:cNvPr id="87" name="Google Shape;8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286650" cy="20623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 flipH="1">
            <a:off x="2624925" y="524475"/>
            <a:ext cx="5761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Dayanada Sagar College of Engineering</a:t>
            </a:r>
            <a:endParaRPr b="1" sz="2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2788550" y="1571175"/>
            <a:ext cx="5852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Calibri"/>
                <a:ea typeface="Calibri"/>
                <a:cs typeface="Calibri"/>
                <a:sym typeface="Calibri"/>
              </a:rPr>
              <a:t>MASTER OF COMPUTER APPLICATION</a:t>
            </a:r>
            <a:endParaRPr b="1"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 flipH="1" rot="285">
            <a:off x="1396550" y="2637125"/>
            <a:ext cx="72444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u="sng">
                <a:latin typeface="Nunito"/>
                <a:ea typeface="Nunito"/>
                <a:cs typeface="Nunito"/>
                <a:sym typeface="Nunito"/>
              </a:rPr>
              <a:t>Relational Database Design Using ER to Relational Mapping</a:t>
            </a:r>
            <a:endParaRPr sz="2500" u="sng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5896450" y="4104925"/>
            <a:ext cx="2926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Nunito ExtraBold"/>
                <a:ea typeface="Nunito ExtraBold"/>
                <a:cs typeface="Nunito ExtraBold"/>
                <a:sym typeface="Nunito ExtraBold"/>
              </a:rPr>
              <a:t>Presented by</a:t>
            </a:r>
            <a:endParaRPr sz="2000">
              <a:latin typeface="Nunito ExtraBold"/>
              <a:ea typeface="Nunito ExtraBold"/>
              <a:cs typeface="Nunito ExtraBold"/>
              <a:sym typeface="Nunito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Nunito ExtraBold"/>
                <a:ea typeface="Nunito ExtraBold"/>
                <a:cs typeface="Nunito ExtraBold"/>
                <a:sym typeface="Nunito ExtraBold"/>
              </a:rPr>
              <a:t>  —Priyanka chavan</a:t>
            </a:r>
            <a:endParaRPr sz="2000"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>
            <p:ph type="title"/>
          </p:nvPr>
        </p:nvSpPr>
        <p:spPr>
          <a:xfrm>
            <a:off x="819150" y="443297"/>
            <a:ext cx="7505700" cy="84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63550" lvl="0" marL="457200" rtl="0" algn="l">
              <a:spcBef>
                <a:spcPts val="0"/>
              </a:spcBef>
              <a:spcAft>
                <a:spcPts val="0"/>
              </a:spcAft>
              <a:buSzPts val="3700"/>
              <a:buChar char="❖"/>
            </a:pPr>
            <a:r>
              <a:rPr lang="en-GB" sz="3700"/>
              <a:t>Chapter Outline</a:t>
            </a:r>
            <a:endParaRPr sz="3700"/>
          </a:p>
        </p:txBody>
      </p:sp>
      <p:sp>
        <p:nvSpPr>
          <p:cNvPr id="97" name="Google Shape;97;p14"/>
          <p:cNvSpPr txBox="1"/>
          <p:nvPr>
            <p:ph idx="1" type="body"/>
          </p:nvPr>
        </p:nvSpPr>
        <p:spPr>
          <a:xfrm>
            <a:off x="311700" y="1175303"/>
            <a:ext cx="8520600" cy="1921500"/>
          </a:xfrm>
          <a:prstGeom prst="rect">
            <a:avLst/>
          </a:prstGeom>
          <a:effectLst>
            <a:outerShdw blurRad="1028700" rotWithShape="0" algn="bl" dist="19050">
              <a:srgbClr val="000000">
                <a:alpha val="4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◼</a:t>
            </a:r>
            <a:r>
              <a:rPr b="1" lang="en-GB" sz="23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Step 1: </a:t>
            </a:r>
            <a:r>
              <a:rPr b="1" lang="en-GB" sz="2600" u="sng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ER-to-Relational Mapping Algorithm</a:t>
            </a:r>
            <a:endParaRPr b="1" sz="2600" u="sng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❖"/>
            </a:pPr>
            <a:r>
              <a:rPr lang="en-GB" sz="24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Step 1: Mapping of Regular Entity Types.</a:t>
            </a:r>
            <a:endParaRPr sz="24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❖"/>
            </a:pPr>
            <a:r>
              <a:rPr lang="en-GB" sz="24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Step 2: Mapping of Weak Entity Types.</a:t>
            </a:r>
            <a:endParaRPr sz="24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❖"/>
            </a:pPr>
            <a:r>
              <a:rPr lang="en-GB" sz="24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Step 3: Mapping of Binary 1:1 Relation Types.</a:t>
            </a:r>
            <a:endParaRPr sz="24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❖"/>
            </a:pPr>
            <a:r>
              <a:rPr lang="en-GB" sz="24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Step 4: Mapping of Binary 1:N Relationship Types.</a:t>
            </a:r>
            <a:endParaRPr sz="24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❖"/>
            </a:pPr>
            <a:r>
              <a:rPr lang="en-GB" sz="24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Step 5: Mapping of Binary M:N Relationship Types.</a:t>
            </a:r>
            <a:endParaRPr sz="24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❖"/>
            </a:pPr>
            <a:r>
              <a:rPr lang="en-GB" sz="24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Step 6: Mapping of Multivalued attributes.</a:t>
            </a:r>
            <a:endParaRPr sz="24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3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>
            <p:ph idx="1" type="body"/>
          </p:nvPr>
        </p:nvSpPr>
        <p:spPr>
          <a:xfrm flipH="1">
            <a:off x="8832275" y="3396100"/>
            <a:ext cx="26700" cy="17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30600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3" name="Google Shape;10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375" y="832450"/>
            <a:ext cx="8316299" cy="3929376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1025575" y="324550"/>
            <a:ext cx="8316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 u="sng">
                <a:latin typeface="Proxima Nova"/>
                <a:ea typeface="Proxima Nova"/>
                <a:cs typeface="Proxima Nova"/>
                <a:sym typeface="Proxima Nova"/>
              </a:rPr>
              <a:t>The ER conceptual schema diagram for the COMPANY database.</a:t>
            </a:r>
            <a:endParaRPr b="1" sz="2400" u="sng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>
            <p:ph type="title"/>
          </p:nvPr>
        </p:nvSpPr>
        <p:spPr>
          <a:xfrm>
            <a:off x="311700" y="88275"/>
            <a:ext cx="8520600" cy="8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4861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❖"/>
            </a:pPr>
            <a:r>
              <a:rPr b="1" i="1" lang="en-GB" sz="2100" u="sng">
                <a:solidFill>
                  <a:srgbClr val="000000"/>
                </a:solidFill>
              </a:rPr>
              <a:t>Result of Mapping the COMPANY ER Schema into a Relational Schema</a:t>
            </a:r>
            <a:endParaRPr b="1" i="1" sz="2100" u="sng">
              <a:solidFill>
                <a:srgbClr val="000000"/>
              </a:solidFill>
            </a:endParaRPr>
          </a:p>
        </p:txBody>
      </p:sp>
      <p:sp>
        <p:nvSpPr>
          <p:cNvPr id="110" name="Google Shape;110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16"/>
          <p:cNvPicPr preferRelativeResize="0"/>
          <p:nvPr/>
        </p:nvPicPr>
        <p:blipFill rotWithShape="1">
          <a:blip r:embed="rId3">
            <a:alphaModFix/>
          </a:blip>
          <a:srcRect b="-1768" l="0" r="0" t="5670"/>
          <a:stretch/>
        </p:blipFill>
        <p:spPr>
          <a:xfrm>
            <a:off x="716600" y="906075"/>
            <a:ext cx="7778875" cy="368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>
            <p:ph type="title"/>
          </p:nvPr>
        </p:nvSpPr>
        <p:spPr>
          <a:xfrm>
            <a:off x="819150" y="845600"/>
            <a:ext cx="7040100" cy="823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2021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2600" u="sng">
                <a:solidFill>
                  <a:srgbClr val="202124"/>
                </a:solidFill>
                <a:highlight>
                  <a:schemeClr val="lt1"/>
                </a:highlight>
              </a:rPr>
              <a:t>◼ Step 1: ER-to-Relational Mapping Algorithm</a:t>
            </a:r>
            <a:endParaRPr b="1" sz="2600" u="sng">
              <a:solidFill>
                <a:srgbClr val="202124"/>
              </a:solidFill>
              <a:highlight>
                <a:schemeClr val="lt1"/>
              </a:highlight>
            </a:endParaRPr>
          </a:p>
        </p:txBody>
      </p:sp>
      <p:sp>
        <p:nvSpPr>
          <p:cNvPr id="117" name="Google Shape;117;p17"/>
          <p:cNvSpPr txBox="1"/>
          <p:nvPr/>
        </p:nvSpPr>
        <p:spPr>
          <a:xfrm>
            <a:off x="623400" y="1960300"/>
            <a:ext cx="7908300" cy="31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❖"/>
            </a:pPr>
            <a:r>
              <a:rPr lang="en-GB" sz="1900"/>
              <a:t> For each regular/strong entity type, create a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corr</a:t>
            </a:r>
            <a:r>
              <a:rPr lang="en-GB" sz="1900"/>
              <a:t>esponding relation that includes all the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s</a:t>
            </a:r>
            <a:r>
              <a:rPr lang="en-GB" sz="1900"/>
              <a:t>imple attributes (includes simple attributes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of composite relations)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❖"/>
            </a:pPr>
            <a:r>
              <a:rPr lang="en-GB" sz="1900"/>
              <a:t> Choose one of the key attributes as primary key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 If composite, the simple attributes together form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the primary key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❖"/>
            </a:pPr>
            <a:r>
              <a:rPr lang="en-GB" sz="1900"/>
              <a:t>   Any remaining key attributes are kept as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secondary unique keys (these will be useful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for physical tuning w.r.t. indexing analysis)</a:t>
            </a:r>
            <a:endParaRPr sz="1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8050" y="451775"/>
            <a:ext cx="6288525" cy="3671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3211" u="sng">
                <a:solidFill>
                  <a:srgbClr val="202124"/>
                </a:solidFill>
              </a:rPr>
              <a:t>Step 2: Mapping of Weak Entity Types</a:t>
            </a:r>
            <a:endParaRPr b="1" sz="3211" u="sng">
              <a:solidFill>
                <a:srgbClr val="202124"/>
              </a:solidFill>
            </a:endParaRPr>
          </a:p>
        </p:txBody>
      </p:sp>
      <p:sp>
        <p:nvSpPr>
          <p:cNvPr id="128" name="Google Shape;128;p19"/>
          <p:cNvSpPr txBox="1"/>
          <p:nvPr/>
        </p:nvSpPr>
        <p:spPr>
          <a:xfrm>
            <a:off x="571200" y="1954000"/>
            <a:ext cx="8069700" cy="3386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❖"/>
            </a:pPr>
            <a:r>
              <a:rPr lang="en-GB" sz="2600"/>
              <a:t>For each weak entity type, create a corresponding relation that includes all the simple attributes 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n-GB" sz="2600"/>
              <a:t> Add as a foreign key all of the primary key attribute(s) in the entity corresponding to the owner entity type 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n-GB" sz="2600"/>
              <a:t>The primary key is the combination of all the primary key attributes from the owner and the partial key of the weak entity, </a:t>
            </a:r>
            <a:endParaRPr sz="2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125" y="488125"/>
            <a:ext cx="7215449" cy="4083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</a:t>
            </a:r>
            <a:r>
              <a:rPr b="1" lang="en-GB" sz="3378" u="sng">
                <a:solidFill>
                  <a:srgbClr val="202124"/>
                </a:solidFill>
              </a:rPr>
              <a:t>Step 3: Mapping Binary 1-to-1</a:t>
            </a:r>
            <a:endParaRPr b="1" sz="3378" u="sng">
              <a:solidFill>
                <a:srgbClr val="202124"/>
              </a:solidFill>
            </a:endParaRPr>
          </a:p>
        </p:txBody>
      </p:sp>
      <p:sp>
        <p:nvSpPr>
          <p:cNvPr id="139" name="Google Shape;139;p21"/>
          <p:cNvSpPr txBox="1"/>
          <p:nvPr/>
        </p:nvSpPr>
        <p:spPr>
          <a:xfrm>
            <a:off x="1679875" y="1999525"/>
            <a:ext cx="74802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Char char="❖"/>
            </a:pPr>
            <a:r>
              <a:rPr lang="en-GB" sz="2700"/>
              <a:t>Three approaches</a:t>
            </a:r>
            <a:endParaRPr sz="3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/>
              <a:t> – Foreign Key </a:t>
            </a:r>
            <a:endParaRPr sz="30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❖"/>
            </a:pPr>
            <a:r>
              <a:rPr lang="en-GB" sz="3000"/>
              <a:t> Usually appropriate</a:t>
            </a:r>
            <a:endParaRPr sz="3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/>
              <a:t> – Merged Relation </a:t>
            </a:r>
            <a:endParaRPr sz="30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❖"/>
            </a:pPr>
            <a:r>
              <a:rPr lang="en-GB" sz="3000"/>
              <a:t> Possible when both partici</a:t>
            </a:r>
            <a:r>
              <a:rPr lang="en-GB" sz="2700"/>
              <a:t>pations are total </a:t>
            </a:r>
            <a:endParaRPr sz="27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/>
              <a:t>– Relationship Relation </a:t>
            </a:r>
            <a:endParaRPr sz="27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140" name="Google Shape;140;p21"/>
          <p:cNvSpPr txBox="1"/>
          <p:nvPr/>
        </p:nvSpPr>
        <p:spPr>
          <a:xfrm flipH="1" rot="10800000">
            <a:off x="443975" y="3115100"/>
            <a:ext cx="11083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840">
                <a:latin typeface="Arial"/>
                <a:ea typeface="Arial"/>
                <a:cs typeface="Arial"/>
                <a:sym typeface="Arial"/>
              </a:rPr>
              <a:t>Continued….step 3</a:t>
            </a:r>
            <a:endParaRPr sz="284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2"/>
          <p:cNvSpPr txBox="1"/>
          <p:nvPr>
            <p:ph idx="1" type="body"/>
          </p:nvPr>
        </p:nvSpPr>
        <p:spPr>
          <a:xfrm>
            <a:off x="819150" y="1853850"/>
            <a:ext cx="7505700" cy="28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Foreign Key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i. Choose one relation as S, the other T § Better if S has total participation (reduces number of NULL values) 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ii. Add to S all the simple attributes of the relationship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iii. Add as a foreign key in S the primary key attributes of T.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i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40746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3340" u="sng">
                <a:solidFill>
                  <a:srgbClr val="000000"/>
                </a:solidFill>
              </a:rPr>
              <a:t>Step 4: Binary 1-to-N</a:t>
            </a:r>
            <a:endParaRPr b="1" sz="3340" u="sng">
              <a:solidFill>
                <a:srgbClr val="000000"/>
              </a:solidFill>
            </a:endParaRPr>
          </a:p>
        </p:txBody>
      </p:sp>
      <p:sp>
        <p:nvSpPr>
          <p:cNvPr id="157" name="Google Shape;157;p24"/>
          <p:cNvSpPr txBox="1"/>
          <p:nvPr>
            <p:ph idx="1" type="body"/>
          </p:nvPr>
        </p:nvSpPr>
        <p:spPr>
          <a:xfrm>
            <a:off x="311700" y="2204350"/>
            <a:ext cx="8520600" cy="25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❖"/>
            </a:pPr>
            <a:r>
              <a:rPr lang="en-GB" sz="2400"/>
              <a:t> </a:t>
            </a:r>
            <a:r>
              <a:rPr lang="en-GB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Choose the S relation as the type at the N-side of the relationship, other is T 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❖"/>
            </a:pPr>
            <a:r>
              <a:rPr lang="en-GB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Add as a foreign key to S all of the primary key attribute(s) of T 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Another approach: create a relationship relation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 txBox="1"/>
          <p:nvPr>
            <p:ph idx="1" type="body"/>
          </p:nvPr>
        </p:nvSpPr>
        <p:spPr>
          <a:xfrm>
            <a:off x="311700" y="587825"/>
            <a:ext cx="8520600" cy="398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ER TO RELATION</a:t>
            </a:r>
            <a:endParaRPr/>
          </a:p>
        </p:txBody>
      </p:sp>
      <p:pic>
        <p:nvPicPr>
          <p:cNvPr id="163" name="Google Shape;16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950" y="968825"/>
            <a:ext cx="8051249" cy="352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6"/>
          <p:cNvSpPr txBox="1"/>
          <p:nvPr>
            <p:ph type="title"/>
          </p:nvPr>
        </p:nvSpPr>
        <p:spPr>
          <a:xfrm>
            <a:off x="655575" y="1157450"/>
            <a:ext cx="7505700" cy="64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i="1" lang="en-GB" sz="3270">
                <a:solidFill>
                  <a:srgbClr val="000000"/>
                </a:solidFill>
              </a:rPr>
              <a:t>Step 5: Binary M-to-N</a:t>
            </a:r>
            <a:endParaRPr b="1" i="1" sz="3270">
              <a:solidFill>
                <a:srgbClr val="000000"/>
              </a:solidFill>
            </a:endParaRPr>
          </a:p>
        </p:txBody>
      </p:sp>
      <p:sp>
        <p:nvSpPr>
          <p:cNvPr id="169" name="Google Shape;169;p26"/>
          <p:cNvSpPr txBox="1"/>
          <p:nvPr>
            <p:ph idx="1" type="body"/>
          </p:nvPr>
        </p:nvSpPr>
        <p:spPr>
          <a:xfrm>
            <a:off x="655575" y="2011888"/>
            <a:ext cx="7505700" cy="26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-GB" sz="121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GB" sz="184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Create a new relation S (termed: relationship relation) – In some ERD dialects, actually drawn in</a:t>
            </a:r>
            <a:endParaRPr sz="184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84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-GB" sz="184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ii. Add as foreign keys the primary keys of both relations; their combination forms the primary key of S</a:t>
            </a:r>
            <a:endParaRPr sz="184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84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rPr lang="en-GB" sz="184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iii. Add any simple attributes of the M:N relationship to S</a:t>
            </a:r>
            <a:endParaRPr sz="184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7"/>
          <p:cNvSpPr txBox="1"/>
          <p:nvPr>
            <p:ph type="title"/>
          </p:nvPr>
        </p:nvSpPr>
        <p:spPr>
          <a:xfrm>
            <a:off x="819150" y="1152475"/>
            <a:ext cx="75057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STEP:5</a:t>
            </a:r>
            <a:endParaRPr/>
          </a:p>
        </p:txBody>
      </p:sp>
      <p:sp>
        <p:nvSpPr>
          <p:cNvPr id="175" name="Google Shape;175;p27"/>
          <p:cNvSpPr txBox="1"/>
          <p:nvPr>
            <p:ph idx="1" type="body"/>
          </p:nvPr>
        </p:nvSpPr>
        <p:spPr>
          <a:xfrm>
            <a:off x="716600" y="1152475"/>
            <a:ext cx="8115600" cy="41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6" name="Google Shape;17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597175"/>
            <a:ext cx="8359024" cy="395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840" u="sng">
                <a:solidFill>
                  <a:srgbClr val="000000"/>
                </a:solidFill>
              </a:rPr>
              <a:t>Step 6: Multivalued Attributes</a:t>
            </a:r>
            <a:endParaRPr sz="2840" u="sng">
              <a:solidFill>
                <a:srgbClr val="000000"/>
              </a:solidFill>
            </a:endParaRPr>
          </a:p>
        </p:txBody>
      </p:sp>
      <p:sp>
        <p:nvSpPr>
          <p:cNvPr id="182" name="Google Shape;182;p2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-364531" lvl="0" marL="457200" rtl="0" algn="ctr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❖"/>
            </a:pPr>
            <a:r>
              <a:rPr lang="en-GB" sz="3058">
                <a:latin typeface="Arial"/>
                <a:ea typeface="Arial"/>
                <a:cs typeface="Arial"/>
                <a:sym typeface="Arial"/>
              </a:rPr>
              <a:t>Create a </a:t>
            </a:r>
            <a:r>
              <a:rPr lang="en-GB" sz="3058" u="sng">
                <a:latin typeface="Arial"/>
                <a:ea typeface="Arial"/>
                <a:cs typeface="Arial"/>
                <a:sym typeface="Arial"/>
              </a:rPr>
              <a:t>new </a:t>
            </a:r>
            <a:r>
              <a:rPr lang="en-GB" sz="3058">
                <a:latin typeface="Arial"/>
                <a:ea typeface="Arial"/>
                <a:cs typeface="Arial"/>
                <a:sym typeface="Arial"/>
              </a:rPr>
              <a:t>relation S </a:t>
            </a:r>
            <a:endParaRPr sz="3058">
              <a:latin typeface="Arial"/>
              <a:ea typeface="Arial"/>
              <a:cs typeface="Arial"/>
              <a:sym typeface="Arial"/>
            </a:endParaRPr>
          </a:p>
          <a:p>
            <a:pPr indent="-358795" lvl="0" marL="457200" rtl="0" algn="ctr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❖"/>
            </a:pPr>
            <a:r>
              <a:rPr lang="en-GB" sz="2929">
                <a:latin typeface="Arial"/>
                <a:ea typeface="Arial"/>
                <a:cs typeface="Arial"/>
                <a:sym typeface="Arial"/>
              </a:rPr>
              <a:t> Add as foreign keys the primary keys of the corresponding relation </a:t>
            </a:r>
            <a:endParaRPr sz="2929">
              <a:latin typeface="Arial"/>
              <a:ea typeface="Arial"/>
              <a:cs typeface="Arial"/>
              <a:sym typeface="Arial"/>
            </a:endParaRPr>
          </a:p>
          <a:p>
            <a:pPr indent="-358795" lvl="0" marL="457200" rtl="0" algn="ctr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❖"/>
            </a:pPr>
            <a:r>
              <a:rPr lang="en-GB" sz="2929">
                <a:latin typeface="Arial"/>
                <a:ea typeface="Arial"/>
                <a:cs typeface="Arial"/>
                <a:sym typeface="Arial"/>
              </a:rPr>
              <a:t> Add the attribute to S (if composite, the simple attributes); </a:t>
            </a:r>
            <a:endParaRPr sz="2929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929">
                <a:latin typeface="Arial"/>
                <a:ea typeface="Arial"/>
                <a:cs typeface="Arial"/>
                <a:sym typeface="Arial"/>
              </a:rPr>
              <a:t>the combination of all attributes in S forms the primary key</a:t>
            </a:r>
            <a:r>
              <a:rPr i="1" lang="en-GB" sz="2929">
                <a:latin typeface="Arial"/>
                <a:ea typeface="Arial"/>
                <a:cs typeface="Arial"/>
                <a:sym typeface="Arial"/>
              </a:rPr>
              <a:t> </a:t>
            </a:r>
            <a:endParaRPr i="1" sz="2929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5575" y="579000"/>
            <a:ext cx="7106400" cy="41075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Final result of </a:t>
            </a:r>
            <a:r>
              <a:rPr lang="en-GB"/>
              <a:t>relational</a:t>
            </a:r>
            <a:r>
              <a:rPr lang="en-GB"/>
              <a:t> design mapping</a:t>
            </a:r>
            <a:endParaRPr/>
          </a:p>
        </p:txBody>
      </p:sp>
      <p:sp>
        <p:nvSpPr>
          <p:cNvPr id="193" name="Google Shape;193;p3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4" name="Google Shape;19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469575"/>
            <a:ext cx="8520600" cy="345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40690" lvl="0" marL="457200" rtl="0" algn="l">
              <a:spcBef>
                <a:spcPts val="0"/>
              </a:spcBef>
              <a:spcAft>
                <a:spcPts val="0"/>
              </a:spcAft>
              <a:buSzPts val="3340"/>
              <a:buChar char="●"/>
            </a:pPr>
            <a:r>
              <a:rPr lang="en-GB" sz="3340"/>
              <a:t>Summary</a:t>
            </a:r>
            <a:endParaRPr sz="3340"/>
          </a:p>
        </p:txBody>
      </p:sp>
      <p:sp>
        <p:nvSpPr>
          <p:cNvPr id="200" name="Google Shape;200;p31"/>
          <p:cNvSpPr txBox="1"/>
          <p:nvPr>
            <p:ph idx="1" type="body"/>
          </p:nvPr>
        </p:nvSpPr>
        <p:spPr>
          <a:xfrm>
            <a:off x="623400" y="2181600"/>
            <a:ext cx="8520600" cy="24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38150" lvl="0" marL="45720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Char char="❏"/>
            </a:pPr>
            <a:r>
              <a:rPr lang="en-GB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Mapping from ERDs to relations is an algorithmic process</a:t>
            </a:r>
            <a:endParaRPr sz="3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